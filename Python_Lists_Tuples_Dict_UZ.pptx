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Listlar, Kortejlar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 Lug'atlar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va Collection turlari — PCEP tayyorgarlik kursi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40233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Kortej (Tuple)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40233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Lug'at (Dict)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LISTLAR (Lists)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789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Tartibli elementlar to'plami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647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O'zgaruvchan (mutable) — elementlarni o'zgartirish mumkin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24505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 0 dan boshlanadi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1546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31363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xil turdagi elementlar bo'lishi mumkin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8404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38221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Manfiy indekslar oxirdan sanaydi: -1 oxirgi element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1005840"/>
            <a:ext cx="3840480" cy="3749040"/>
          </a:xfrm>
          <a:prstGeom prst="roundRect">
            <a:avLst>
              <a:gd name="adj" fmla="val 2927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097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Misol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1417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the_list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ix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range(len(the_list)):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print(the_list[ix])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the_list[ix] = counter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 += </a:t>
            </a:r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37760" y="320040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Natija: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354787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c   (birinchi loop)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1 2   (ikkinchi loop)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✂️  SLICING (Kesish)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61288"/>
            <a:ext cx="3886200" cy="384048"/>
          </a:xfrm>
          <a:prstGeom prst="roundRect">
            <a:avLst>
              <a:gd name="adj" fmla="val 19048"/>
            </a:avLst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6128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the_list[from:to]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indeksdan to-1 gacha elementlar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103120"/>
            <a:ext cx="3886200" cy="502920"/>
          </a:xfrm>
          <a:prstGeom prst="roundRect">
            <a:avLst>
              <a:gd name="adj" fmla="val 10909"/>
            </a:avLst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031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[0,1,2,3][1:3]  →  [1,2]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61288"/>
            <a:ext cx="3886200" cy="384048"/>
          </a:xfrm>
          <a:prstGeom prst="roundRect">
            <a:avLst>
              <a:gd name="adj" fmla="val 19048"/>
            </a:avLst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6128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the_list[:to]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Boshidan to-1 gacha (from=0)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103120"/>
            <a:ext cx="3886200" cy="502920"/>
          </a:xfrm>
          <a:prstGeom prst="roundRect">
            <a:avLst>
              <a:gd name="adj" fmla="val 10909"/>
            </a:avLst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1031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[0,1,2,3][:2]  →  [0,1]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081528"/>
            <a:ext cx="3886200" cy="384048"/>
          </a:xfrm>
          <a:prstGeom prst="roundRect">
            <a:avLst>
              <a:gd name="adj" fmla="val 19048"/>
            </a:avLst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8152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the_list[from:]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5204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dan oxirigacha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023360"/>
            <a:ext cx="3886200" cy="502920"/>
          </a:xfrm>
          <a:prstGeom prst="roundRect">
            <a:avLst>
              <a:gd name="adj" fmla="val 10909"/>
            </a:avLst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2336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[0,1,2,3][2:]  →  [2,3]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081528"/>
            <a:ext cx="3886200" cy="384048"/>
          </a:xfrm>
          <a:prstGeom prst="roundRect">
            <a:avLst>
              <a:gd name="adj" fmla="val 19048"/>
            </a:avLst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08152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the_list[from:to:step]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5204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bilan qadam tashlab olish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4023360"/>
            <a:ext cx="3886200" cy="502920"/>
          </a:xfrm>
          <a:prstGeom prst="roundRect">
            <a:avLst>
              <a:gd name="adj" fmla="val 10909"/>
            </a:avLst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402336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[0,1,2,3][::2]  →  [0,2]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4617720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FEF9C3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Manfiy indekslar ham ishlaydi:  the_list[-3:-1]  →  oxirdan 3-dan oxirdan 2-gacha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🔧  LIST METODLARI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" y="1097280"/>
            <a:ext cx="3986784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09728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.append(element)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996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Oxiriga element qo'shish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" y="1865376"/>
            <a:ext cx="3986784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89280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lst.append(1)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18888" y="1097280"/>
            <a:ext cx="3986784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09728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.insert(i, el)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4996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i-indeksga element kiritish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18888" y="1865376"/>
            <a:ext cx="3986784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89280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[1]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lst.insert(0,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[2, 1]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97180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" y="3063240"/>
            <a:ext cx="3986784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306324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lst[i]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4655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i-indeksdagi elementni o'chirish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" y="3831336"/>
            <a:ext cx="3986784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385876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[1]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lst[0]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18888" y="3063240"/>
            <a:ext cx="3986784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306324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/ not 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4655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Elementning mavjudligini tekshirish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18888" y="3831336"/>
            <a:ext cx="3986784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85876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[1,'a']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 in lst   #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not in lst # False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📎  NUSXA OLISH &amp; LIST COMPREHENSION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XAVFLI: Reference nusxa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444752"/>
            <a:ext cx="3858768" cy="1051560"/>
          </a:xfrm>
          <a:prstGeom prst="roundRect">
            <a:avLst>
              <a:gd name="adj" fmla="val 608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list_a = [1]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list_b = list_a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list_b[0] =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print(list_a[0])  # 0 !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54203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list_b = list_a  →  ikkalasi bir xil joyga ishora qiladi!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TO'G'RI: Slice nusxa [:]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64608" y="1444752"/>
            <a:ext cx="3858768" cy="1051560"/>
          </a:xfrm>
          <a:prstGeom prst="roundRect">
            <a:avLst>
              <a:gd name="adj" fmla="val 608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81328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list_a = [1]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list_b = list_a[:]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list_b[0] =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print(list_a[0])  # 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92040" y="254203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list_a[:] → yangi, mustaqil nusxa yaratadi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8595360" cy="1463040"/>
          </a:xfrm>
          <a:prstGeom prst="roundRect">
            <a:avLst>
              <a:gd name="adj" fmla="val 6250"/>
            </a:avLst>
          </a:prstGeom>
          <a:solidFill>
            <a:srgbClr val="1A245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List Comprehension — qisqa va tez yozish usuli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95020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the_list = [x for x in range(1, 4)]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print(the_list)  # [1, 2, 3]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🔒  KORTEJLAR (Tuples)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8366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Kortejlar O'ZGARMAS (immutable) — elementlarni o'zgartirish, qo'shish yoki o'chirish MUMKIN EMAS (TypeError)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554480"/>
            <a:ext cx="2834640" cy="3291840"/>
          </a:xfrm>
          <a:prstGeom prst="roundRect">
            <a:avLst>
              <a:gd name="adj" fmla="val 3226"/>
            </a:avLst>
          </a:prstGeom>
          <a:solidFill>
            <a:srgbClr val="F5F3FF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27632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276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Yaratish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084832"/>
            <a:ext cx="2651760" cy="2606040"/>
          </a:xfrm>
          <a:prstGeom prst="roundRect">
            <a:avLst>
              <a:gd name="adj" fmla="val 24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130552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 = 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= 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= (1,)   # Muhim!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= (1, 2.5)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= 1, 2.5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554480"/>
            <a:ext cx="2834640" cy="3291840"/>
          </a:xfrm>
          <a:prstGeom prst="roundRect">
            <a:avLst>
              <a:gd name="adj" fmla="val 3226"/>
            </a:avLst>
          </a:prstGeom>
          <a:solidFill>
            <a:srgbClr val="F5F3FF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627632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6276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 &amp; Uzunlik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2084832"/>
            <a:ext cx="2651760" cy="2606040"/>
          </a:xfrm>
          <a:prstGeom prst="roundRect">
            <a:avLst>
              <a:gd name="adj" fmla="val 24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2130552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(1, 2.2, '3')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print(t[0])    #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print(t[-1])   # '3'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print(len(t))  #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2834640" cy="3291840"/>
          </a:xfrm>
          <a:prstGeom prst="roundRect">
            <a:avLst>
              <a:gd name="adj" fmla="val 3226"/>
            </a:avLst>
          </a:prstGeom>
          <a:solidFill>
            <a:srgbClr val="F5F3FF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627632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6276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Iteratsiya &amp; 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2084832"/>
            <a:ext cx="2651760" cy="2606040"/>
          </a:xfrm>
          <a:prstGeom prst="roundRect">
            <a:avLst>
              <a:gd name="adj" fmla="val 24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2130552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(10, 20, 30)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el in 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print(el)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in t   #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not in t # True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411480"/>
          </a:xfrm>
          <a:prstGeom prst="roundRect">
            <a:avLst>
              <a:gd name="adj" fmla="val 1555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617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Bitta elementli kortej: (1)  ≠  (1,)  →  (1) bu faqat son, vergul MAJBURIY!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📖  LUG'ATLAR (Dictionaries)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Kalit:Qiymat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41732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juftlik kalit (key) va qiymat (value) dan iborat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8888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7528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Tartibsiz emas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67528" y="141732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Tartib kiritish ketma-ketligiga bog'liq, sequence emas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32688" y="2423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O'zgaruvchan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274320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Mutable: qiymatlarni o'zgartirish, qo'shish, o'chirish mumkin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33172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18888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67528" y="2423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KeyError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67528" y="274320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bo'lmagan kalit bilan murojaat → KeyError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85953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30752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'Emergency'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911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'Police'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(phone[</a:t>
            </a:r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'Emergency'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 # 911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'Emergency' in phone   # True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(phone)   # 2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🔧  LUG'AT METODLARI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" y="1097280"/>
            <a:ext cx="3986784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09728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.keys()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4996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kalitlar ro'yxati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" y="1865376"/>
            <a:ext cx="3986784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89280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ph.keys():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 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18888" y="1097280"/>
            <a:ext cx="3986784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09728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.values()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4996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qiymatlar ro'yxati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18888" y="1865376"/>
            <a:ext cx="3986784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89280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 in ph.values():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print(v)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Alpha  Bravo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97180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" y="3063240"/>
            <a:ext cx="3986784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306324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.items()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34655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Kalit:Qiymat juftliklari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" y="3831336"/>
            <a:ext cx="3986784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385876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item in ph.items():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print(item)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('A','Alpha')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18888" y="3063240"/>
            <a:ext cx="3986784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306324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d[k]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46320" y="34655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Kalitni lug'atdan o'chirish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18888" y="3831336"/>
            <a:ext cx="3986784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85876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{'USD':'dollar'}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d['USD']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len(d)  # 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 TAQQOSLASH: List vs Tuple vs Dict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286000" cy="438912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601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Xususiyat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78608" y="960120"/>
            <a:ext cx="21031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78608" y="96012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 [ 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45736" y="960120"/>
            <a:ext cx="21031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45736" y="96012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 ( 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12864" y="960120"/>
            <a:ext cx="210312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2864" y="96012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 { 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1444752"/>
            <a:ext cx="228600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4447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Tartibli (Ordered)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78608" y="1444752"/>
            <a:ext cx="210312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144475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45736" y="1444752"/>
            <a:ext cx="210312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44475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12864" y="1444752"/>
            <a:ext cx="210312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58584" y="144475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(kiritish tartibi)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" y="1947672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94767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O'zgaruvchan (Mutable)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578608" y="1947672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24328" y="19476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45736" y="1947672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19476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12864" y="1947672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58584" y="19476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28600" y="2450592"/>
            <a:ext cx="228600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45059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 bilan murojaat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578608" y="2450592"/>
            <a:ext cx="210312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24328" y="245059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[i]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45736" y="2450592"/>
            <a:ext cx="210312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245059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[i]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912864" y="2450592"/>
            <a:ext cx="210312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58584" y="245059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(kalit bilan)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28600" y="2953512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95351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 bilan murojaat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578608" y="2953512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24328" y="29535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45736" y="2953512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29535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912864" y="2953512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58584" y="29535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[key]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28600" y="3456432"/>
            <a:ext cx="228600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45643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Takroriy elementlar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578608" y="3456432"/>
            <a:ext cx="210312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24328" y="34564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745736" y="3456432"/>
            <a:ext cx="210312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91456" y="34564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912864" y="3456432"/>
            <a:ext cx="2103120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58584" y="34564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(kalit unikal)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228600" y="3959352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9593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Ishlatish maqsadi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578608" y="3959352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24328" y="395935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ro'yxati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745736" y="3959352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91456" y="395935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O'zgarmas ma'lumot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912864" y="3959352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58584" y="395935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Kalit:Qiymat juftligi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474720"/>
            <a:ext cx="3200400" cy="32004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XULOSA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LIST — tartibli, o'zgaruvchan, indeksli. Slicing, append, insert, del, 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56232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8366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TUPLE — tartibli, O'ZGARMAS. Bitta elementda vergul majburiy: (1,)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569464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9689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DICT — kalit:qiymat, .keys() .values() .items(). Mavjud bo'lmagan kalit → KeyError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82696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101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list_b = list_a → reference! list_b = list_a[:] → mustaqil nusxa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95928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233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List comprehension: [x for x in range(n)] — qisqa va tez yozish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Python: Listlar, Kortejlar, Lug'atlar</dc:title>
  <dc:subject>PptxGenJS Presentation</dc:subject>
  <dc:creator>PptxGenJS</dc:creator>
  <cp:lastModifiedBy>PptxGenJS</cp:lastModifiedBy>
  <cp:revision>1</cp:revision>
  <dcterms:created xsi:type="dcterms:W3CDTF">2026-06-17T09:39:35Z</dcterms:created>
  <dcterms:modified xsi:type="dcterms:W3CDTF">2026-06-17T09:39:35Z</dcterms:modified>
</cp:coreProperties>
</file>