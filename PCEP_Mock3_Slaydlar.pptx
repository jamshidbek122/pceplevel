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97135" y="-731520"/>
            <a:ext cx="3108960" cy="3108960"/>
          </a:xfrm>
          <a:prstGeom prst="ellipse">
            <a:avLst/>
          </a:prstGeom>
          <a:solidFill>
            <a:srgbClr val="14B8A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48056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SERTIFIKAT TAYYORGARLIGI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PCEP — Mock 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to'plamlari • Funksiyalar • Istisnolar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416052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1605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 &amp; Tuple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4160520"/>
            <a:ext cx="1033272" cy="457200"/>
          </a:xfrm>
          <a:prstGeom prst="roundRect">
            <a:avLst>
              <a:gd name="adj" fmla="val 50000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4160520"/>
            <a:ext cx="1033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07992" y="4160520"/>
            <a:ext cx="1627632" cy="457200"/>
          </a:xfrm>
          <a:prstGeom prst="roundRect">
            <a:avLst>
              <a:gd name="adj" fmla="val 50000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4160520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64224" y="4160520"/>
            <a:ext cx="1746504" cy="457200"/>
          </a:xfrm>
          <a:prstGeom prst="roundRect">
            <a:avLst>
              <a:gd name="adj" fmla="val 50000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416052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Certified Entry-Level Programmer (PCEP-30-02)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 darsda nimani o'rganamiz?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19476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0574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17647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Ro'yxatlar (Lists)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45920" y="21671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Yaratish, indekslash, kesish (slice), metodlar va iteratsiya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16002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37960" y="194767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05740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69480" y="17647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Satrlar (Strings)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269480" y="21671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Ro'yxatga o'xshashligi va o'zgarmasligi (immutable)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4400" y="350215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6118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33192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Tuple'lar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645920" y="37216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O'zgarmas ketma-ketliklar va ularning xususiyatlari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31546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537960" y="350215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361188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69480" y="331927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Lug'atlar (Dictionaries)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269480" y="372160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Kalit–qiymat juftliklari, metodlar va iteratsiya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47091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4A3B8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914400" y="505663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166360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645920" y="48737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Funksiyalar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645920" y="52760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Parametrlar, return, default qiymatlar, scope, rekursiya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263640" y="47091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94A3B8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537960" y="505663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5166360"/>
            <a:ext cx="329184" cy="32918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269480" y="48737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Istisnolar (Exceptions)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269480" y="52760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try/except, asosiy xatolar va debugging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114800" cy="41148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595360" y="2194560"/>
            <a:ext cx="1828800" cy="1828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Ro'yxatlar (Lists)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moslashuvchan ma'lumot to'plami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Ro'yxat nima va uning xossalari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 — istalgan turdagi elementlardan iborat ma'lumot to'plami (nol element ham bo'lishi mumkin)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Ketma-ketlik (sequence) — iteratsiya qilinadi, elementlar tartibi saqlanadi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O'zgaruvchan (mutable) — tarkibini o'zgartirish mumkin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funksiyasi element sonini qaytaradi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Elementlar 0 dan boshlab indekslanadi; -1 oxirgi elementni bildiradi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691640"/>
            <a:ext cx="4572000" cy="3291840"/>
          </a:xfrm>
          <a:prstGeom prst="roundRect">
            <a:avLst>
              <a:gd name="adj" fmla="val 2222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05472" y="183794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7406640" y="183794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7607808" y="183794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7205472" y="2075688"/>
            <a:ext cx="4242816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empty_list = []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= [1, 'two', False]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print(len(['a','b','c']))   # 3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 = ['a','b','c']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print(the_list[0])    # a</a:t>
            </a:r>
            <a:endParaRPr lang="en-US" sz="1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print(the_list[-1])   # c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040880" y="516636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349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0" y="521208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Diapazondan tashqari indeks → IndexError. Butun bo'lmagan indeks → TypeError.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Kesish (Slicing)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— mavjud ro'yxatning bir qismidan yangi ro'yxat yaratish usuli.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5120640" cy="640080"/>
          </a:xfrm>
          <a:prstGeom prst="roundRect">
            <a:avLst>
              <a:gd name="adj" fmla="val 14286"/>
            </a:avLst>
          </a:prstGeom>
          <a:solidFill>
            <a:srgbClr val="0B2027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0116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the_list[from : to : step]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[from:to] ≡ [from:to:1]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[:to]    ≡ [0:to]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[from:]  ≡ [from:len(list)]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[:]      ≡ to'liq nusxa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4846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Manfiy indekslar ham ishlaydi. Diapazondan oshsa — xato BO'LMAYDI, mavjud bo'lmagan elementlar hisobga olinmaydi (natija bo'sh ro'yxat bo'lishi mumkin).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0" y="201168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65392" y="215798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3" name="Shape 10"/>
          <p:cNvSpPr/>
          <p:nvPr/>
        </p:nvSpPr>
        <p:spPr>
          <a:xfrm>
            <a:off x="6766560" y="215798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4" name="Shape 11"/>
          <p:cNvSpPr/>
          <p:nvPr/>
        </p:nvSpPr>
        <p:spPr>
          <a:xfrm>
            <a:off x="6967728" y="215798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5" name="Text 12"/>
          <p:cNvSpPr/>
          <p:nvPr/>
        </p:nvSpPr>
        <p:spPr>
          <a:xfrm>
            <a:off x="6565392" y="2395728"/>
            <a:ext cx="4882896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 = [0, 1, 2, 3]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print(the_list[-3:-1])  # [1, 2]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Nusxa olish — alohida ro'yxat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 = [1]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 = list_a[:]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list_b[0] = 0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print(list_a[0] == list_b[0])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# False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Tayinlash nusxa olmaydi (Reference)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Tayinlash (=)  →  bir xil obyekt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3317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33272" y="247802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7"/>
          <p:cNvSpPr/>
          <p:nvPr/>
        </p:nvSpPr>
        <p:spPr>
          <a:xfrm>
            <a:off x="1234440" y="247802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8"/>
          <p:cNvSpPr/>
          <p:nvPr/>
        </p:nvSpPr>
        <p:spPr>
          <a:xfrm>
            <a:off x="1435608" y="247802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2" name="Text 9"/>
          <p:cNvSpPr/>
          <p:nvPr/>
        </p:nvSpPr>
        <p:spPr>
          <a:xfrm>
            <a:off x="1033272" y="2715768"/>
            <a:ext cx="45171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 = [1]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 = list_a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list_b[0] = 0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print(list_a[0] == list_b[0])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46520" y="1737360"/>
            <a:ext cx="53035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Slice [:]  →  haqiqiy nusxa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75120" y="2331720"/>
            <a:ext cx="4846320" cy="2011680"/>
          </a:xfrm>
          <a:prstGeom prst="roundRect">
            <a:avLst>
              <a:gd name="adj" fmla="val 3636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39712" y="247802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4"/>
          <p:cNvSpPr/>
          <p:nvPr/>
        </p:nvSpPr>
        <p:spPr>
          <a:xfrm>
            <a:off x="7040880" y="247802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5"/>
          <p:cNvSpPr/>
          <p:nvPr/>
        </p:nvSpPr>
        <p:spPr>
          <a:xfrm>
            <a:off x="7242048" y="247802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9" name="Text 16"/>
          <p:cNvSpPr/>
          <p:nvPr/>
        </p:nvSpPr>
        <p:spPr>
          <a:xfrm>
            <a:off x="6839712" y="2715768"/>
            <a:ext cx="451713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list_a = [1]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 = list_a[:]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list_b[0] = 0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print(list_a[0] == list_b[0])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False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484632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CCFBF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0"/>
            <a:ext cx="411480" cy="4114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417320" y="484632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Esda tuting: list_b = list_a faqat bir xil ma'lumotga ikkita nom beradi. Mustaqil nusxa kerak bo'lsa — [:] dan foydalaning.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Metodlar, operatorlar va iteratsiya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60350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56616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 / Operator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Vazifasi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.append(el)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oxiriga element qo'shadi → [1]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.insert(i, el)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indeksga qo'yadi → [2, 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 list[i]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elementni o'chiradi → []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/ not 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elementni tekshiradi → True False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el in list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iteratsiya (indekssiz)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List comprehension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7040880" y="210312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205472" y="224942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6"/>
          <p:cNvSpPr/>
          <p:nvPr/>
        </p:nvSpPr>
        <p:spPr>
          <a:xfrm>
            <a:off x="7406640" y="224942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7"/>
          <p:cNvSpPr/>
          <p:nvPr/>
        </p:nvSpPr>
        <p:spPr>
          <a:xfrm>
            <a:off x="7607808" y="224942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2" name="Text 8"/>
          <p:cNvSpPr/>
          <p:nvPr/>
        </p:nvSpPr>
        <p:spPr>
          <a:xfrm>
            <a:off x="7205472" y="2487168"/>
            <a:ext cx="424281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 = [x for x in range(1,4)]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print(the_list)   # [1, 2, 3]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0408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Iteratsiya (for)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040880" y="402336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5472" y="416966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6" name="Shape 12"/>
          <p:cNvSpPr/>
          <p:nvPr/>
        </p:nvSpPr>
        <p:spPr>
          <a:xfrm>
            <a:off x="7406640" y="416966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7" name="Shape 13"/>
          <p:cNvSpPr/>
          <p:nvPr/>
        </p:nvSpPr>
        <p:spPr>
          <a:xfrm>
            <a:off x="7607808" y="416966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8" name="Text 14"/>
          <p:cNvSpPr/>
          <p:nvPr/>
        </p:nvSpPr>
        <p:spPr>
          <a:xfrm>
            <a:off x="7205472" y="4407408"/>
            <a:ext cx="424281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the_list = [1, 2, 3]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element in the_list: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print(element, end=' ')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2 3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SATRLAR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Satrlar (Strings)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Satrlar ham ketma-ketlik (sequence) — ro'yxatlarga o'xshab indekslanadi va kesiladi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funksiyasi argumenti bo'la oladi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not in — bir satr ikkinchisining qismi ekanini tekshiradi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Bo'sh satr istalgan satrning qismi hisoblanadi (hatto bo'shning ham)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06640" y="1783080"/>
            <a:ext cx="4206240" cy="2194560"/>
          </a:xfrm>
          <a:prstGeom prst="roundRect">
            <a:avLst>
              <a:gd name="adj" fmla="val 5000"/>
            </a:avLst>
          </a:prstGeom>
          <a:solidFill>
            <a:srgbClr val="0F2D3A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103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06640" y="2788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EEA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IMMUTABLE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406640" y="32461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Satr tarkibini o'zgartirib bo'lmaydi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457200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04672" y="471830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3" name="Shape 9"/>
          <p:cNvSpPr/>
          <p:nvPr/>
        </p:nvSpPr>
        <p:spPr>
          <a:xfrm>
            <a:off x="1005840" y="471830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4" name="Shape 10"/>
          <p:cNvSpPr/>
          <p:nvPr/>
        </p:nvSpPr>
        <p:spPr>
          <a:xfrm>
            <a:off x="1207008" y="471830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5" name="Text 11"/>
          <p:cNvSpPr/>
          <p:nvPr/>
        </p:nvSpPr>
        <p:spPr>
          <a:xfrm>
            <a:off x="804672" y="4956048"/>
            <a:ext cx="105978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'Python'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print(s[0], s[-1])    # P n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print(s[0:3])         # Pyt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print('th' in s)      # True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print(len(s))         # 6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114800" cy="41148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595360" y="2194560"/>
            <a:ext cx="1828800" cy="1828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Tuple'lar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O'zgarmas ketma-ketliklar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Tuple — o'zgarmas ketma-ketlik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Ro'yxatga o'xshaydi: istalgan turdagi 0+ element saqlaydi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Lekin IMMUTABLE — element qo'shib, o'chirib yoki o'zgartirib bo'lmaydi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Qoidani buzish → TypeError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Indekslash va slicing ro'yxatdagidek ishlaydi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bo'lmagan elementga murojaat → IndexError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858000" y="169164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22592" y="183794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0" y="183794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7424928" y="183794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7022592" y="2075688"/>
            <a:ext cx="442569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  = ()        # tuple()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    = 1,        # vergul muhim!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    = (1, 2.5)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    = 1, 2.5    # bir xil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print(len((1, 2.2, '3', True)))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858000" y="48006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0292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0" y="48006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elementli tuple uchun ohirgi vergul shart: (1) emas, balki 1, yoki (1,)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114800" cy="41148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595360" y="2194560"/>
            <a:ext cx="1828800" cy="1828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Lug'atlar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 – qiymat juftliklari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Qiymatlarga murojaat va operatorlar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Qiymatga murojaat KALIT orqali: d['key']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bo'lmagan kalit → KeyError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/ not in — kalit mavjudligini tekshiradi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— juftliklar sonini qaytaradi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1783080"/>
            <a:ext cx="4754880" cy="3291840"/>
          </a:xfrm>
          <a:prstGeom prst="roundRect">
            <a:avLst>
              <a:gd name="adj" fmla="val 2222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22592" y="192938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0" y="192938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7424928" y="192938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7022592" y="2167128"/>
            <a:ext cx="4425696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 = {'Emergency': 911}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print(phone['Emergency'])  # 911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print('Emergency' in phone,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'WhiteHouse' in phone)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False</a:t>
            </a: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endParaRPr lang="en-US" sz="14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print(len(phone))          # 1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Qo'shish, o'zgartirish, o'chirish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737360"/>
            <a:ext cx="3611880" cy="731520"/>
          </a:xfrm>
          <a:prstGeom prst="round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373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O'zgartirish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269748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0B2027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697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attendance['Bob'] = False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7947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kalit qiymatini tayinlash bilan o'zgartiramiz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26280" y="17373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1737360"/>
            <a:ext cx="3611880" cy="731520"/>
          </a:xfrm>
          <a:prstGeom prst="roundRect">
            <a:avLst>
              <a:gd name="adj" fmla="val 12500"/>
            </a:avLst>
          </a:prstGeom>
          <a:solidFill>
            <a:srgbClr val="14B8A6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17373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Qo'shish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800600" y="269748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0B2027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697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domains['at'] = 'Austria'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37947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juftlik oddiy tayinlashga o'xshaydi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412480" y="1737360"/>
            <a:ext cx="3611880" cy="38404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12480" y="1737360"/>
            <a:ext cx="3611880" cy="73152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17373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O'chirish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686800" y="2697480"/>
            <a:ext cx="3063240" cy="914400"/>
          </a:xfrm>
          <a:prstGeom prst="roundRect">
            <a:avLst>
              <a:gd name="adj" fmla="val 6000"/>
            </a:avLst>
          </a:prstGeom>
          <a:solidFill>
            <a:srgbClr val="0B2027"/>
          </a:solidFill>
          <a:ln/>
        </p:spPr>
      </p:sp>
      <p:sp>
        <p:nvSpPr>
          <p:cNvPr id="22" name="Text 19"/>
          <p:cNvSpPr/>
          <p:nvPr/>
        </p:nvSpPr>
        <p:spPr>
          <a:xfrm>
            <a:off x="8778240" y="269748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currencies['USD']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686800" y="379476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instruksiyasi juftlikni butunlay o'chiradi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Iteratsiya: keys, values, items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3774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Yondashuv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Nimani qaytaradi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k in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faqat KALITLAR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d.keys()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kalitlar ro'yxati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d.values()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qiymatlar ro'yxati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Bravo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d.items()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(kalit, qiymat) tuple'lar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('A','Alpha') ('B','Bravo')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0" y="1737360"/>
            <a:ext cx="4297680" cy="3108960"/>
          </a:xfrm>
          <a:prstGeom prst="roundRect">
            <a:avLst>
              <a:gd name="adj" fmla="val 2353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479792" y="188366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5"/>
          <p:cNvSpPr/>
          <p:nvPr/>
        </p:nvSpPr>
        <p:spPr>
          <a:xfrm>
            <a:off x="7680960" y="188366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6"/>
          <p:cNvSpPr/>
          <p:nvPr/>
        </p:nvSpPr>
        <p:spPr>
          <a:xfrm>
            <a:off x="7882128" y="188366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7"/>
          <p:cNvSpPr/>
          <p:nvPr/>
        </p:nvSpPr>
        <p:spPr>
          <a:xfrm>
            <a:off x="7479792" y="2121408"/>
            <a:ext cx="396849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phonetic = {'A':'Alpha',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'B':'Bravo'}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phonetic.items():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print(item, end=' ')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('A','Alpha') ('B','Bravo')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507492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CCFB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120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50749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 for sikli bilan iteratsiya qilinganda standart holda FAQAT kalitlar chiqadi.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114800" cy="41148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595360" y="2194560"/>
            <a:ext cx="1828800" cy="1828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Funksiyalar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 ishlatiluvchi kod bloklari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Asoslar: aniqlash, chaqirish, return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— talab bo'yicha ishga tushiriladigan nomli kod bo'lagi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 bajaradi, natija qaytaradi yoki ikkalasini ham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 chaqiruvdan OLDIN bo'lishi shart, aks holda → NameError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ifodasi funksiyani to'xtatib, qiymat qaytaradi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bo'lmasa yoki bo'sh bo'lsa → None qaytadi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949440" y="1691640"/>
            <a:ext cx="4663440" cy="3931920"/>
          </a:xfrm>
          <a:prstGeom prst="roundRect">
            <a:avLst>
              <a:gd name="adj" fmla="val 186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14032" y="183794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7315200" y="183794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7516368" y="183794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7114032" y="2075688"/>
            <a:ext cx="4334256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lazy():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function(parameter):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parameter == False: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print(function(False),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function(True))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None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Parametr uzatish usullari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125980" y="1965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21259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2697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Positional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14400" y="315468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0B2027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function(1, 2, 3)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3886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Argumentlar POZITSIYASI bo'yicha bog'lanadi → 1 2 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26280" y="16916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12180" y="196596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60121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526280" y="2697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Keyword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800600" y="315468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0B2027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function(c=3, a=1, b=2)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800600" y="3886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Argumentlar NOM bo'yicha bog'lanadi → 1 2 3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12480" y="16916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4A3B8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898380" y="19659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98983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8412480" y="26974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Default qiymat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8686800" y="315468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0B2027"/>
          </a:solidFill>
          <a:ln/>
        </p:spPr>
      </p:sp>
      <p:sp>
        <p:nvSpPr>
          <p:cNvPr id="25" name="Text 22"/>
          <p:cNvSpPr/>
          <p:nvPr/>
        </p:nvSpPr>
        <p:spPr>
          <a:xfrm>
            <a:off x="8732520" y="31546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f(param=False)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686800" y="3886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berilmasa, default qiymat olinadi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0080" y="502920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212080"/>
            <a:ext cx="411480" cy="41148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417320" y="502920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parametr ikki marta tayinlansa → TypeError. Argument yetmasa ham → TypeError. Default'li parametrlar default'siz oldida turmasligi kerak.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Ko'rinish sohasi (Scope)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5760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nom to'g'ri tanib olinadigan kod qismi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Funksiyadan TASHQARIDAGI o'zgaruvchi funksiya ichida ham ko'rinadi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 ICHIDAGI o'zgaruvchi faqat shu funksiya tanasida ko'rinadi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kalit so'zi o'zgaruvchini global qiladi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66560" y="1737360"/>
            <a:ext cx="4846320" cy="2743200"/>
          </a:xfrm>
          <a:prstGeom prst="roundRect">
            <a:avLst>
              <a:gd name="adj" fmla="val 2667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31152" y="188366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0" y="188366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7333488" y="188366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6931152" y="2121408"/>
            <a:ext cx="451713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function():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 variable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variable += 1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= 1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function()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print(variable)   # 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766560" y="466344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4892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4663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qatorini olib tashlasangiz, kod buziladi va UnboundLocalError chiqadi.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0080" y="49377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 qiymati o'zgarsa, bu funksiyadan tashqariga TARQALMAYDI. Ammo ro'yxat yoki lug'atning TARKIBI o'zgarsa — tarqaladi.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Rekursiya (Recursion)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Rekursiya — funksiya murakkab vazifani bajarish uchun O'ZINI chaqiradigan dasturlash usuli.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7432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factorial(5)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" y="3310128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33101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factorial(4)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914400" y="3877056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97280" y="38770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4 × factorial(3)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051560" y="4443984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234440" y="444398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88720" y="5010912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63500" dist="25400" dir="5400000">
              <a:srgbClr val="94A3B8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371600" y="501091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120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766560" y="178308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931152" y="192938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9" name="Shape 16"/>
          <p:cNvSpPr/>
          <p:nvPr/>
        </p:nvSpPr>
        <p:spPr>
          <a:xfrm>
            <a:off x="7132320" y="192938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0" name="Shape 17"/>
          <p:cNvSpPr/>
          <p:nvPr/>
        </p:nvSpPr>
        <p:spPr>
          <a:xfrm>
            <a:off x="7333488" y="192938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1" name="Text 18"/>
          <p:cNvSpPr/>
          <p:nvPr/>
        </p:nvSpPr>
        <p:spPr>
          <a:xfrm>
            <a:off x="6931152" y="2167128"/>
            <a:ext cx="451713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&lt; 2: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 * factorial(n - 1)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print(factorial(5))   # 120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4255" y="4480560"/>
            <a:ext cx="4114800" cy="411480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D948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8595360" y="2194560"/>
            <a:ext cx="1828800" cy="1828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Istisnolar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va debugging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try / except mexanizmi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59436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 (exception) — bajarilish xatosi tufayli yuzaga keladigan hodisa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Xato yuzaga kelishi — raising deyiladi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falsafasi: «Ruxsat so'ragandan ko'ra, kechirim so'ragan afzal»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bloki xato bo'lishi mumkin kodni, except esa uni qayta ishlaydi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0" y="1737360"/>
            <a:ext cx="4754880" cy="3200400"/>
          </a:xfrm>
          <a:prstGeom prst="roundRect">
            <a:avLst>
              <a:gd name="adj" fmla="val 2286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22592" y="188366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0" y="188366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7424928" y="188366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1" name="Text 8"/>
          <p:cNvSpPr/>
          <p:nvPr/>
        </p:nvSpPr>
        <p:spPr>
          <a:xfrm>
            <a:off x="7022592" y="2121408"/>
            <a:ext cx="4425696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1 / 0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None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print('PROCEEDING')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nolga bo'lishga qaramay</a:t>
            </a:r>
            <a:endParaRPr lang="en-US" sz="1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PROCEEDING chiqadi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Eng keng tarqalgan xatolar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645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9280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7510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755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1732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Nolga bo'lish (/, //, %)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63640" y="1645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189280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975104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1755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704088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turdagi, lekin nomaqbul qiymat: int('')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2788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303580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11810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2898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41732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kelmaydigan tur: int(None)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263640" y="2788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92240" y="303580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118104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2898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AttributeError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704088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Mavjud bo'lmagan metod: the_list.apend()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40080" y="3931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68680" y="417880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26110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17320" y="4041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141732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grammatikasini buzish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263640" y="39319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4A3B8">
                <a:alpha val="2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492240" y="4178808"/>
            <a:ext cx="384048" cy="384048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261104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040880" y="40416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D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</a:t>
            </a:r>
            <a:endParaRPr lang="en-US" sz="1450" dirty="0"/>
          </a:p>
        </p:txBody>
      </p:sp>
      <p:sp>
        <p:nvSpPr>
          <p:cNvPr id="35" name="Text 26"/>
          <p:cNvSpPr/>
          <p:nvPr/>
        </p:nvSpPr>
        <p:spPr>
          <a:xfrm>
            <a:off x="7040880" y="4389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Aniqlanmagan o'zgaruvchi/funksiya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448056" cy="448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ISTISNOLAR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D3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Bir nechta except va debugging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852160" cy="3108960"/>
          </a:xfrm>
          <a:prstGeom prst="roundRect">
            <a:avLst>
              <a:gd name="adj" fmla="val 2353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83664"/>
            <a:ext cx="109728" cy="109728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1005840" y="1883664"/>
            <a:ext cx="109728" cy="109728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207008" y="1883664"/>
            <a:ext cx="109728" cy="109728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121408"/>
            <a:ext cx="552297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print(1 / int(input('Raqam: ')))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print('NAN')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print('ZERO')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except: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D6F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print('ERR')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766560" y="1737360"/>
            <a:ext cx="48463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BITTA except bajariladi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(nomsiz) except — ENG OXIRGI bo'lishi shart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— koddagi xato; debugging — uni topish va o'chirish jarayoni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— kodni nazorat ostida ishga tushiruvchi vosita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bilan debugging — eng oddiy usul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— kod to'g'ri ishlashini tekshirish; unit testing — kod bilan parallel test yozish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PCEP — Ma'lumot to'plamlari, Funksiyalar va Istisnolar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3657600"/>
            <a:ext cx="5486400" cy="5486400"/>
          </a:xfrm>
          <a:prstGeom prst="ellipse">
            <a:avLst/>
          </a:prstGeom>
          <a:solidFill>
            <a:srgbClr val="0D9488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Asosiy esda qoladigan nuqtalar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Ketma-ketliklar  —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 va satr — indeks 0 dan; -1 oxirgi. Slice yangi nusxa beradi.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7706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7249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vs Immutable  —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Ro'yxat &amp; lug'at o'zgaruvchan; satr &amp; tuple o'zgarmas.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4838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43814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Lug'at  —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Murojaat kalit orqali; for sikli faqat kalitlarni beradi.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41970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1513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Funksiyalar  —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Aniqlash chaqiruvdan oldin; return bo'lmasa None; global scope.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491032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0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48646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Istisnolar  —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try/except; nomsiz except oxirda; faqat bitta except ishlaydi.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989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EEAD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Omad tilaymiz — PCEP imtihonida muvaffaqiyat!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PCEP Mock 3 — Python asoslari</dc:title>
  <dc:subject>PptxGenJS Presentation</dc:subject>
  <dc:creator>Devbek</dc:creator>
  <cp:lastModifiedBy>Devbek</cp:lastModifiedBy>
  <cp:revision>1</cp:revision>
  <dcterms:created xsi:type="dcterms:W3CDTF">2026-06-18T10:22:58Z</dcterms:created>
  <dcterms:modified xsi:type="dcterms:W3CDTF">2026-06-18T10:22:58Z</dcterms:modified>
</cp:coreProperties>
</file>